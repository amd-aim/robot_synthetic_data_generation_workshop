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8"/>
    <p:sldMasterId id="2147484926" r:id="rId9"/>
  </p:sldMasterIdLst>
  <p:notesMasterIdLst>
    <p:notesMasterId r:id="rId17"/>
  </p:notesMasterIdLst>
  <p:handoutMasterIdLst>
    <p:handoutMasterId r:id="rId18"/>
  </p:handoutMasterIdLst>
  <p:sldIdLst>
    <p:sldId id="288" r:id="rId10"/>
    <p:sldId id="289" r:id="rId11"/>
    <p:sldId id="290" r:id="rId12"/>
    <p:sldId id="291" r:id="rId13"/>
    <p:sldId id="292" r:id="rId14"/>
    <p:sldId id="293" r:id="rId15"/>
    <p:sldId id="294" r:id="rId16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85"/>
    <a:srgbClr val="8D8C95"/>
    <a:srgbClr val="000000"/>
    <a:srgbClr val="262626"/>
    <a:srgbClr val="131313"/>
    <a:srgbClr val="242428"/>
    <a:srgbClr val="19181C"/>
    <a:srgbClr val="E15310"/>
    <a:srgbClr val="888D91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4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3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2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2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4/23/2026 8:08 PM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4/23/2026 8:08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1" y="1004191"/>
            <a:ext cx="2654754" cy="63269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5416296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4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888" userDrawn="1">
          <p15:clr>
            <a:srgbClr val="5ACBF0"/>
          </p15:clr>
        </p15:guide>
        <p15:guide id="6" orient="horz" pos="1080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198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orient="horz" pos="888" userDrawn="1">
          <p15:clr>
            <a:srgbClr val="5ACBF0"/>
          </p15:clr>
        </p15:guide>
        <p15:guide id="3" orient="horz" pos="1080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888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  <p15:guide id="6" orient="horz" pos="1080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888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  <p15:guide id="6" orient="horz" pos="1080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080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8200" y="2131028"/>
            <a:ext cx="6959092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320" userDrawn="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7"/>
            <a:ext cx="6667500" cy="5683251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2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1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F794C-0039-734A-9A67-0890BA2F7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2977" y="3207401"/>
            <a:ext cx="2479346" cy="5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CF5DA9-7F0B-974A-BDA7-C8F89F527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6232" y="2847538"/>
            <a:ext cx="4879537" cy="1162923"/>
          </a:xfrm>
          <a:prstGeom prst="rect">
            <a:avLst/>
          </a:prstGeom>
        </p:spPr>
      </p:pic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5416296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3ED066-9C2C-E04B-82A8-4B91E064F8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1" y="1004191"/>
            <a:ext cx="2654754" cy="6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2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5BDC0C-A045-7D4C-BC73-7EE593BA7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3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5592198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888" userDrawn="1">
          <p15:clr>
            <a:srgbClr val="5ACBF0"/>
          </p15:clr>
        </p15:guide>
        <p15:guide id="6" orient="horz" pos="1080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487081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orient="horz" pos="888" userDrawn="1">
          <p15:clr>
            <a:srgbClr val="5ACBF0"/>
          </p15:clr>
        </p15:guide>
        <p15:guide id="3" orient="horz" pos="1080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403844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888" userDrawn="1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  <p15:guide id="6" orient="horz" pos="1080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5477321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888" userDrawn="1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  <p15:guide id="6" orient="horz" pos="1080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451499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 userDrawn="1">
          <p15:clr>
            <a:srgbClr val="5ACBF0"/>
          </p15:clr>
        </p15:guide>
        <p15:guide id="29" orient="horz" pos="1080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2439479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314497280"/>
      </p:ext>
    </p:extLst>
  </p:cSld>
  <p:clrMapOvr>
    <a:masterClrMapping/>
  </p:clrMapOvr>
  <p:transition>
    <p:fade/>
  </p:transition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423542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08" userDrawn="1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9219866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150229365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443417578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37665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663219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714039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2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34438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5642603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837066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1898059612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829362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7"/>
            <a:ext cx="6667500" cy="5683251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3148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2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1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8264C2-173F-CC47-9A0F-0F38BFA6AB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2977" y="3207401"/>
            <a:ext cx="2479346" cy="5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08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002536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 userDrawn="1">
          <p15:clr>
            <a:srgbClr val="5ACBF0"/>
          </p15:clr>
        </p15:guide>
        <p15:guide id="29" orient="horz" pos="1080" userDrawn="1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2EF15-430C-A84B-9A5E-863425F35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6232" y="2847538"/>
            <a:ext cx="4879537" cy="11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85778"/>
      </p:ext>
    </p:extLst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0466" y="6561727"/>
            <a:ext cx="645078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99F05-19B0-4D15-9F81-C1424158873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1365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[AMD Official Use Only]</a:t>
            </a:r>
          </a:p>
        </p:txBody>
      </p:sp>
      <p:sp>
        <p:nvSpPr>
          <p:cNvPr id="5" name="hl">
            <a:extLst>
              <a:ext uri="{FF2B5EF4-FFF2-40B4-BE49-F238E27FC236}">
                <a16:creationId xmlns:a16="http://schemas.microsoft.com/office/drawing/2014/main" id="{A444ED71-AD28-40CE-8E9B-7D529A57CDA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8" name="fl">
            <a:extLst>
              <a:ext uri="{FF2B5EF4-FFF2-40B4-BE49-F238E27FC236}">
                <a16:creationId xmlns:a16="http://schemas.microsoft.com/office/drawing/2014/main" id="{43E5A9FB-C01D-46CE-8F35-6EA9268859D0}"/>
              </a:ext>
            </a:extLst>
          </p:cNvPr>
          <p:cNvSpPr txBox="1"/>
          <p:nvPr userDrawn="1"/>
        </p:nvSpPr>
        <p:spPr>
          <a:xfrm>
            <a:off x="0" y="652018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833" r:id="rId2"/>
    <p:sldLayoutId id="2147484710" r:id="rId3"/>
    <p:sldLayoutId id="2147484240" r:id="rId4"/>
    <p:sldLayoutId id="2147484736" r:id="rId5"/>
    <p:sldLayoutId id="2147484474" r:id="rId6"/>
    <p:sldLayoutId id="2147484639" r:id="rId7"/>
    <p:sldLayoutId id="2147484603" r:id="rId8"/>
    <p:sldLayoutId id="2147484919" r:id="rId9"/>
    <p:sldLayoutId id="2147484751" r:id="rId10"/>
    <p:sldLayoutId id="2147484914" r:id="rId11"/>
    <p:sldLayoutId id="2147484835" r:id="rId12"/>
    <p:sldLayoutId id="2147484836" r:id="rId13"/>
    <p:sldLayoutId id="2147484837" r:id="rId14"/>
    <p:sldLayoutId id="2147484838" r:id="rId15"/>
    <p:sldLayoutId id="2147484923" r:id="rId16"/>
    <p:sldLayoutId id="2147484925" r:id="rId17"/>
    <p:sldLayoutId id="2147484839" r:id="rId18"/>
    <p:sldLayoutId id="2147484922" r:id="rId19"/>
    <p:sldLayoutId id="2147484783" r:id="rId20"/>
    <p:sldLayoutId id="2147484784" r:id="rId21"/>
    <p:sldLayoutId id="2147484787" r:id="rId22"/>
    <p:sldLayoutId id="2147484249" r:id="rId23"/>
    <p:sldLayoutId id="2147484671" r:id="rId24"/>
    <p:sldLayoutId id="2147484299" r:id="rId25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D7AC4D-9491-4E01-B00E-358B03A637B8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1410466" y="6561727"/>
            <a:ext cx="645078" cy="153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B8E910-4250-4F3B-A66E-3002804313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1365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[AMD Official Use Only]</a:t>
            </a:r>
          </a:p>
        </p:txBody>
      </p:sp>
      <p:sp>
        <p:nvSpPr>
          <p:cNvPr id="5" name="hl">
            <a:extLst>
              <a:ext uri="{FF2B5EF4-FFF2-40B4-BE49-F238E27FC236}">
                <a16:creationId xmlns:a16="http://schemas.microsoft.com/office/drawing/2014/main" id="{AFF49551-1D66-45C6-A611-FBACD319232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endParaRPr lang="en-US" sz="1800" err="1">
              <a:solidFill>
                <a:schemeClr val="tx1"/>
              </a:solidFill>
            </a:endParaRPr>
          </a:p>
        </p:txBody>
      </p:sp>
      <p:sp>
        <p:nvSpPr>
          <p:cNvPr id="8" name="fl">
            <a:extLst>
              <a:ext uri="{FF2B5EF4-FFF2-40B4-BE49-F238E27FC236}">
                <a16:creationId xmlns:a16="http://schemas.microsoft.com/office/drawing/2014/main" id="{77DD0C1B-0A68-4F01-899D-BEBB1EB34507}"/>
              </a:ext>
            </a:extLst>
          </p:cNvPr>
          <p:cNvSpPr txBox="1"/>
          <p:nvPr userDrawn="1"/>
        </p:nvSpPr>
        <p:spPr>
          <a:xfrm>
            <a:off x="0" y="652018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endParaRPr lang="en-US" sz="18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06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7" r:id="rId1"/>
    <p:sldLayoutId id="2147484928" r:id="rId2"/>
    <p:sldLayoutId id="2147484929" r:id="rId3"/>
    <p:sldLayoutId id="2147484930" r:id="rId4"/>
    <p:sldLayoutId id="2147484931" r:id="rId5"/>
    <p:sldLayoutId id="2147484932" r:id="rId6"/>
    <p:sldLayoutId id="2147484933" r:id="rId7"/>
    <p:sldLayoutId id="2147484934" r:id="rId8"/>
    <p:sldLayoutId id="2147484935" r:id="rId9"/>
    <p:sldLayoutId id="2147484936" r:id="rId10"/>
    <p:sldLayoutId id="2147484937" r:id="rId11"/>
    <p:sldLayoutId id="2147484938" r:id="rId12"/>
    <p:sldLayoutId id="2147484939" r:id="rId13"/>
    <p:sldLayoutId id="2147484940" r:id="rId14"/>
    <p:sldLayoutId id="2147484941" r:id="rId15"/>
    <p:sldLayoutId id="2147484942" r:id="rId16"/>
    <p:sldLayoutId id="2147484943" r:id="rId17"/>
    <p:sldLayoutId id="2147484944" r:id="rId18"/>
    <p:sldLayoutId id="2147484945" r:id="rId19"/>
    <p:sldLayoutId id="2147484946" r:id="rId20"/>
    <p:sldLayoutId id="2147484947" r:id="rId21"/>
    <p:sldLayoutId id="2147484948" r:id="rId22"/>
    <p:sldLayoutId id="2147484949" r:id="rId23"/>
    <p:sldLayoutId id="2147484950" r:id="rId24"/>
    <p:sldLayoutId id="2147484953" r:id="rId25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hyperlink" Target="https://marble.worldlabs.ai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lidavidsh/franka-pick-100ep-genesis" TargetMode="Externa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7E04F9-728E-5253-1FE3-CDFE2226E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565636"/>
            <a:ext cx="3182027" cy="1723549"/>
          </a:xfrm>
        </p:spPr>
        <p:txBody>
          <a:bodyPr/>
          <a:lstStyle/>
          <a:p>
            <a:r>
              <a:rPr lang="en-US"/>
              <a:t>Build Synthetic Data Generation (SDG) Pipeline in a Digital Twin World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63DC21-DEA2-5B8F-573C-4706159559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7"/>
            <a:ext cx="6667500" cy="5683251"/>
          </a:xfrm>
        </p:spPr>
        <p:txBody>
          <a:bodyPr wrap="square"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Background &amp; Motivation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Synthetic Data Generation(SDG)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SmolVLA P</a:t>
            </a:r>
            <a:r>
              <a:rPr lang="en-US" altLang="zh-CN"/>
              <a:t>ost-Training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Evaluation in Virtual World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Summary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391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E40D22-EB36-E103-4DB9-7B72DAE2D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/>
          <a:lstStyle/>
          <a:p>
            <a:r>
              <a:rPr lang="en-US"/>
              <a:t>Background &amp; Motivation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AD281-A5B8-E655-6AA1-7656E5BA6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Data Scarcity in Embody AI</a:t>
            </a:r>
            <a:r>
              <a:rPr lang="en-US"/>
              <a:t>: </a:t>
            </a:r>
            <a:r>
              <a:rPr lang="en-US" b="1"/>
              <a:t>expensive, slow, and hard to scale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/>
              <a:t>robot policy learning requires physical interaction with the real world</a:t>
            </a:r>
          </a:p>
          <a:p>
            <a:endParaRPr lang="en-US" b="1"/>
          </a:p>
          <a:p>
            <a:r>
              <a:rPr lang="en-US" b="1"/>
              <a:t>Data Pyramid for Robots</a:t>
            </a:r>
          </a:p>
          <a:p>
            <a:r>
              <a:rPr lang="en-US" altLang="zh-CN"/>
              <a:t>[Real</a:t>
            </a:r>
            <a:r>
              <a:rPr lang="zh-CN" altLang="en-US"/>
              <a:t> </a:t>
            </a:r>
            <a:r>
              <a:rPr lang="en-US" altLang="zh-CN"/>
              <a:t>Robot</a:t>
            </a:r>
            <a:r>
              <a:rPr lang="zh-CN" altLang="en-US"/>
              <a:t> </a:t>
            </a:r>
            <a:r>
              <a:rPr lang="en-US" altLang="zh-CN"/>
              <a:t>Data]           ← best fidelity but most scarce and expensive</a:t>
            </a:r>
            <a:endParaRPr lang="en-US"/>
          </a:p>
          <a:p>
            <a:r>
              <a:rPr lang="en-US"/>
              <a:t>              ↑</a:t>
            </a:r>
          </a:p>
          <a:p>
            <a:r>
              <a:rPr lang="en-US"/>
              <a:t>  [High-Quality Demonstration Data(teleop / VR)]   ← human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loop,</a:t>
            </a:r>
            <a:r>
              <a:rPr lang="zh-CN" altLang="en-US"/>
              <a:t> </a:t>
            </a:r>
            <a:r>
              <a:rPr lang="en-US"/>
              <a:t>high fidelity</a:t>
            </a:r>
          </a:p>
          <a:p>
            <a:r>
              <a:rPr lang="en-US"/>
              <a:t>              ↑</a:t>
            </a:r>
          </a:p>
          <a:p>
            <a:r>
              <a:rPr lang="en-US"/>
              <a:t>     [</a:t>
            </a:r>
            <a:r>
              <a:rPr lang="en-US" b="1"/>
              <a:t>Synthetic</a:t>
            </a:r>
            <a:r>
              <a:rPr lang="en-US" altLang="zh-CN" b="1"/>
              <a:t>/ Simulation</a:t>
            </a:r>
            <a:r>
              <a:rPr lang="zh-CN" altLang="en-US" b="1"/>
              <a:t> </a:t>
            </a:r>
            <a:r>
              <a:rPr lang="en-US" altLang="zh-CN" b="1"/>
              <a:t>Data</a:t>
            </a:r>
            <a:r>
              <a:rPr lang="en-US" altLang="zh-CN"/>
              <a:t>]             ← easy large-scale in simulation virtual world </a:t>
            </a:r>
            <a:endParaRPr lang="zh-CN" altLang="en-US"/>
          </a:p>
          <a:p>
            <a:r>
              <a:rPr lang="zh-CN" altLang="en-US"/>
              <a:t>              ↑</a:t>
            </a:r>
          </a:p>
          <a:p>
            <a:r>
              <a:rPr lang="zh-CN" altLang="en-US"/>
              <a:t> </a:t>
            </a:r>
            <a:r>
              <a:rPr lang="en-US" altLang="zh-CN"/>
              <a:t>[</a:t>
            </a:r>
            <a:r>
              <a:rPr lang="zh-CN" altLang="en-US"/>
              <a:t> </a:t>
            </a:r>
            <a:r>
              <a:rPr lang="en-US" altLang="zh-CN"/>
              <a:t>Weekly-Supervised</a:t>
            </a:r>
            <a:r>
              <a:rPr lang="zh-CN" altLang="en-US"/>
              <a:t> </a:t>
            </a:r>
            <a:r>
              <a:rPr lang="en-US" altLang="zh-CN"/>
              <a:t>H</a:t>
            </a:r>
            <a:r>
              <a:rPr lang="en-US"/>
              <a:t>uman Video Data]   ← Internet-scale，no</a:t>
            </a:r>
            <a:r>
              <a:rPr lang="zh-CN" altLang="en-US"/>
              <a:t> </a:t>
            </a:r>
            <a:r>
              <a:rPr lang="en-US"/>
              <a:t>action labels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656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294F-B32D-0E22-B984-CFFC1D4F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/>
          <a:lstStyle/>
          <a:p>
            <a:r>
              <a:rPr lang="en-US"/>
              <a:t>Synthetic Data Generation(SDG)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1B377-0CF0-6ADF-BE2B-97CF6DEB4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SDG is to use physical-fidelity world to generate unlimited expert demonstrations automatically</a:t>
            </a:r>
          </a:p>
          <a:p>
            <a:endParaRPr lang="en-US" b="1"/>
          </a:p>
          <a:p>
            <a:pPr marL="342900" indent="-342900">
              <a:buFont typeface="+mj-lt"/>
              <a:buAutoNum type="arabicPeriod"/>
            </a:pPr>
            <a:r>
              <a:rPr lang="en-US"/>
              <a:t>Creat Virtual Scene/World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/>
              <a:t>Generate virtual world by </a:t>
            </a:r>
            <a:r>
              <a:rPr lang="en-US">
                <a:hlinkClick r:id="rId4"/>
              </a:rPr>
              <a:t>World Lab Marble </a:t>
            </a:r>
            <a:endParaRPr lang="en-US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/>
              <a:t>Reconstruct/Regenerate with 3D Models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Physical Engine, e.g. Mojuco, PhysicX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Data Augmentation, e.g. Domain Randomization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/>
          </a:p>
          <a:p>
            <a:r>
              <a:rPr lang="en-US"/>
              <a:t>In this workshop, we use </a:t>
            </a:r>
            <a:r>
              <a:rPr lang="en-US" b="1"/>
              <a:t>World Lab Marble </a:t>
            </a:r>
            <a:r>
              <a:rPr lang="en-US"/>
              <a:t>for scene creation </a:t>
            </a:r>
            <a:r>
              <a:rPr lang="en-US" b="1"/>
              <a:t>+ Genesis </a:t>
            </a:r>
            <a:r>
              <a:rPr lang="en-US"/>
              <a:t>for the remaining</a:t>
            </a:r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958102-8396-650D-665D-E6FC96081A19}"/>
              </a:ext>
            </a:extLst>
          </p:cNvPr>
          <p:cNvSpPr/>
          <p:nvPr/>
        </p:nvSpPr>
        <p:spPr bwMode="auto">
          <a:xfrm>
            <a:off x="493244" y="4814030"/>
            <a:ext cx="2648870" cy="609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D</a:t>
            </a:r>
            <a:r>
              <a:rPr lang="en-US" altLang="zh-CN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ata Generation</a:t>
            </a: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3BDF0-2377-C52E-7BC0-AD54ED085707}"/>
              </a:ext>
            </a:extLst>
          </p:cNvPr>
          <p:cNvSpPr/>
          <p:nvPr/>
        </p:nvSpPr>
        <p:spPr bwMode="auto">
          <a:xfrm>
            <a:off x="4256999" y="4814030"/>
            <a:ext cx="2542890" cy="609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VLA Post-Train</a:t>
            </a: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B03F44-7B7C-AB66-3889-C3A90033E990}"/>
              </a:ext>
            </a:extLst>
          </p:cNvPr>
          <p:cNvSpPr/>
          <p:nvPr/>
        </p:nvSpPr>
        <p:spPr bwMode="auto">
          <a:xfrm>
            <a:off x="7914774" y="4814030"/>
            <a:ext cx="2735580" cy="609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Evaluation in Sim</a:t>
            </a: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DB4D2-3332-3583-4A8F-3CB2D58C3FCD}"/>
              </a:ext>
            </a:extLst>
          </p:cNvPr>
          <p:cNvSpPr txBox="1"/>
          <p:nvPr/>
        </p:nvSpPr>
        <p:spPr>
          <a:xfrm>
            <a:off x="493244" y="5723876"/>
            <a:ext cx="283464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Franka Arm 7-DOF</a:t>
            </a:r>
          </a:p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“pick red cube”</a:t>
            </a:r>
          </a:p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2 cameras (up/wrist)</a:t>
            </a:r>
            <a:endParaRPr lang="en-US" sz="180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56848-871B-8C5C-5AD5-8784F2104EB0}"/>
              </a:ext>
            </a:extLst>
          </p:cNvPr>
          <p:cNvSpPr txBox="1"/>
          <p:nvPr/>
        </p:nvSpPr>
        <p:spPr>
          <a:xfrm>
            <a:off x="4111124" y="5673611"/>
            <a:ext cx="283464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Lerobot/smovla_base</a:t>
            </a:r>
          </a:p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Freeze vision encoder</a:t>
            </a:r>
          </a:p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Train action experts only</a:t>
            </a:r>
            <a:endParaRPr lang="en-US" sz="180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D6B18-DD39-4EED-2C61-4B78DB2164C6}"/>
              </a:ext>
            </a:extLst>
          </p:cNvPr>
          <p:cNvSpPr txBox="1"/>
          <p:nvPr/>
        </p:nvSpPr>
        <p:spPr>
          <a:xfrm>
            <a:off x="7914774" y="5723876"/>
            <a:ext cx="332765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unseen cube poss for evaluation</a:t>
            </a:r>
          </a:p>
          <a:p>
            <a:pPr marL="285750" indent="-285750" algn="l">
              <a:buClr>
                <a:schemeClr val="accent1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1800"/>
              <a:t>Success rate as metric</a:t>
            </a:r>
          </a:p>
        </p:txBody>
      </p:sp>
      <p:pic>
        <p:nvPicPr>
          <p:cNvPr id="10" name="pick_hq_3cam_overview">
            <a:hlinkClick r:id="" action="ppaction://media"/>
            <a:extLst>
              <a:ext uri="{FF2B5EF4-FFF2-40B4-BE49-F238E27FC236}">
                <a16:creationId xmlns:a16="http://schemas.microsoft.com/office/drawing/2014/main" id="{301854DC-C58E-DA4C-DD84-5ED2BB6394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90913" y="1847132"/>
            <a:ext cx="3793706" cy="21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244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C036-6FE0-00D9-15F5-EB43EAED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SmolVLA Post-Training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26BE8A-21CF-B43E-6228-DAFB3E164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41996"/>
              </p:ext>
            </p:extLst>
          </p:nvPr>
        </p:nvGraphicFramePr>
        <p:xfrm>
          <a:off x="1160549" y="1203960"/>
          <a:ext cx="81279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040">
                  <a:extLst>
                    <a:ext uri="{9D8B030D-6E8A-4147-A177-3AD203B41FA5}">
                      <a16:colId xmlns:a16="http://schemas.microsoft.com/office/drawing/2014/main" val="3583408988"/>
                    </a:ext>
                  </a:extLst>
                </a:gridCol>
                <a:gridCol w="5853959">
                  <a:extLst>
                    <a:ext uri="{9D8B030D-6E8A-4147-A177-3AD203B41FA5}">
                      <a16:colId xmlns:a16="http://schemas.microsoft.com/office/drawing/2014/main" val="2552138852"/>
                    </a:ext>
                  </a:extLst>
                </a:gridCol>
              </a:tblGrid>
              <a:tr h="324114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942964"/>
                  </a:ext>
                </a:extLst>
              </a:tr>
              <a:tr h="324114">
                <a:tc>
                  <a:txBody>
                    <a:bodyPr/>
                    <a:lstStyle/>
                    <a:p>
                      <a:r>
                        <a:rPr lang="en-US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VLM (SigLIP + SmolLM2) + Action Expert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352339"/>
                  </a:ext>
                </a:extLst>
              </a:tr>
              <a:tr h="324114">
                <a:tc>
                  <a:txBody>
                    <a:bodyPr/>
                    <a:lstStyle/>
                    <a:p>
                      <a:r>
                        <a:rPr lang="en-US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images (up + wrst) + state (9D) + language task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048257"/>
                  </a:ext>
                </a:extLst>
              </a:tr>
              <a:tr h="324114">
                <a:tc>
                  <a:txBody>
                    <a:bodyPr/>
                    <a:lstStyle/>
                    <a:p>
                      <a:r>
                        <a:rPr lang="en-US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chunk (50 × 9D joint targets)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041801"/>
                  </a:ext>
                </a:extLst>
              </a:tr>
              <a:tr h="324114">
                <a:tc>
                  <a:txBody>
                    <a:bodyPr/>
                    <a:lstStyle/>
                    <a:p>
                      <a:r>
                        <a:rPr lang="en-US"/>
                        <a:t>Total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~450M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78731"/>
                  </a:ext>
                </a:extLst>
              </a:tr>
              <a:tr h="324114">
                <a:tc>
                  <a:txBody>
                    <a:bodyPr/>
                    <a:lstStyle/>
                    <a:p>
                      <a:r>
                        <a:rPr lang="en-US"/>
                        <a:t>Trainable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~5M (expert only, vision encoder frozen)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0224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8D3E52-9B6D-D26F-8958-61686F8A7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287245"/>
              </p:ext>
            </p:extLst>
          </p:nvPr>
        </p:nvGraphicFramePr>
        <p:xfrm>
          <a:off x="1160550" y="3628930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3766409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595641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14015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R9700(RDNA4)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MI300(CDNA3)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70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Train time(mins)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17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Per-step(s/step)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05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07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Final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1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Init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24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GPU Peak VRAM(GB)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32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19123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A26A-7AEB-7922-3289-D4EF12A1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/>
          <a:lstStyle/>
          <a:p>
            <a:r>
              <a:rPr lang="en-US"/>
              <a:t>Evaluation in Virtual World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02651F-BC50-933A-F43F-BA49E14AA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504186"/>
              </p:ext>
            </p:extLst>
          </p:nvPr>
        </p:nvGraphicFramePr>
        <p:xfrm>
          <a:off x="1098349" y="1383809"/>
          <a:ext cx="8844548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352">
                  <a:extLst>
                    <a:ext uri="{9D8B030D-6E8A-4147-A177-3AD203B41FA5}">
                      <a16:colId xmlns:a16="http://schemas.microsoft.com/office/drawing/2014/main" val="1303692525"/>
                    </a:ext>
                  </a:extLst>
                </a:gridCol>
                <a:gridCol w="2920359">
                  <a:extLst>
                    <a:ext uri="{9D8B030D-6E8A-4147-A177-3AD203B41FA5}">
                      <a16:colId xmlns:a16="http://schemas.microsoft.com/office/drawing/2014/main" val="1624980764"/>
                    </a:ext>
                  </a:extLst>
                </a:gridCol>
                <a:gridCol w="4240837">
                  <a:extLst>
                    <a:ext uri="{9D8B030D-6E8A-4147-A177-3AD203B41FA5}">
                      <a16:colId xmlns:a16="http://schemas.microsoft.com/office/drawing/2014/main" val="3694736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Replay(sanity check)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Closed-loop(real eval)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02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Action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Pre-recorded 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real-time inference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525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Render images + read joint state each step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31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Genesis physics + PD control + success criteria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End-to-end policy performance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589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F7A033-E84C-713F-0A66-5E042C7EF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99297"/>
              </p:ext>
            </p:extLst>
          </p:nvPr>
        </p:nvGraphicFramePr>
        <p:xfrm>
          <a:off x="1098348" y="3766781"/>
          <a:ext cx="763685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807">
                  <a:extLst>
                    <a:ext uri="{9D8B030D-6E8A-4147-A177-3AD203B41FA5}">
                      <a16:colId xmlns:a16="http://schemas.microsoft.com/office/drawing/2014/main" val="1048362831"/>
                    </a:ext>
                  </a:extLst>
                </a:gridCol>
                <a:gridCol w="4056906">
                  <a:extLst>
                    <a:ext uri="{9D8B030D-6E8A-4147-A177-3AD203B41FA5}">
                      <a16:colId xmlns:a16="http://schemas.microsoft.com/office/drawing/2014/main" val="1706045361"/>
                    </a:ext>
                  </a:extLst>
                </a:gridCol>
                <a:gridCol w="2211137">
                  <a:extLst>
                    <a:ext uri="{9D8B030D-6E8A-4147-A177-3AD203B41FA5}">
                      <a16:colId xmlns:a16="http://schemas.microsoft.com/office/drawing/2014/main" val="2696832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RDNA4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CDNA3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95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10/20 = 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6/20 = 30 %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50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7/20 = 35 %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6/20 = 30 %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7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8/20 = 40 %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4/20 = 20 %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5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12/20 = 60 %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4/20 = 20 %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987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11/20 = 55 %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5/20 = 25 %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92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mean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/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48/100 = 48.0 %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25/100 = 25.0 %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02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61130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4B09-C58E-BAFF-440C-5875A418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6CCB9-C368-2893-B696-074DD0204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3678975"/>
            <a:ext cx="11018520" cy="2587236"/>
          </a:xfrm>
        </p:spPr>
        <p:txBody>
          <a:bodyPr/>
          <a:lstStyle/>
          <a:p>
            <a:r>
              <a:rPr lang="en-US" b="1"/>
              <a:t>Key TakeAway</a:t>
            </a:r>
            <a:r>
              <a:rPr lang="en-US"/>
              <a:t>: </a:t>
            </a:r>
            <a:r>
              <a:rPr lang="en-US" b="1"/>
              <a:t>Build an end-to-end Synthetic Data Generation(SDG) pipeline, from data generation, to VLA post-training and evaluate in virtual world all on AMD GPUs</a:t>
            </a:r>
          </a:p>
          <a:p>
            <a:r>
              <a:rPr lang="en-US" b="1"/>
              <a:t>Limitations: </a:t>
            </a:r>
          </a:p>
          <a:p>
            <a:pPr marL="342900" indent="-342900">
              <a:buAutoNum type="arabicPeriod"/>
            </a:pPr>
            <a:r>
              <a:rPr lang="en-US"/>
              <a:t>Genesis doesn’t yet support direct 3D Gaussian Splat Rendering, now the rendering is based-on high-quality mesh exported from WorldLab Mable, which is expensive</a:t>
            </a:r>
          </a:p>
          <a:p>
            <a:pPr marL="342900" indent="-342900">
              <a:buAutoNum type="arabicPeriod"/>
            </a:pPr>
            <a:r>
              <a:rPr lang="en-US"/>
              <a:t>Rendering GPU is required for data generation and evaluation, for workshop purpose, here only evaluation on MI300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11BCB5-98AA-53F2-C7B1-78743CCFC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889464"/>
              </p:ext>
            </p:extLst>
          </p:nvPr>
        </p:nvGraphicFramePr>
        <p:xfrm>
          <a:off x="917124" y="1157086"/>
          <a:ext cx="9543981" cy="2387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433">
                  <a:extLst>
                    <a:ext uri="{9D8B030D-6E8A-4147-A177-3AD203B41FA5}">
                      <a16:colId xmlns:a16="http://schemas.microsoft.com/office/drawing/2014/main" val="991331554"/>
                    </a:ext>
                  </a:extLst>
                </a:gridCol>
                <a:gridCol w="4745254">
                  <a:extLst>
                    <a:ext uri="{9D8B030D-6E8A-4147-A177-3AD203B41FA5}">
                      <a16:colId xmlns:a16="http://schemas.microsoft.com/office/drawing/2014/main" val="3044526162"/>
                    </a:ext>
                  </a:extLst>
                </a:gridCol>
                <a:gridCol w="2652294">
                  <a:extLst>
                    <a:ext uri="{9D8B030D-6E8A-4147-A177-3AD203B41FA5}">
                      <a16:colId xmlns:a16="http://schemas.microsoft.com/office/drawing/2014/main" val="1393047544"/>
                    </a:ext>
                  </a:extLst>
                </a:gridCol>
              </a:tblGrid>
              <a:tr h="328241">
                <a:tc>
                  <a:txBody>
                    <a:bodyPr/>
                    <a:lstStyle/>
                    <a:p>
                      <a:r>
                        <a:rPr lang="en-US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Key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607253"/>
                  </a:ext>
                </a:extLst>
              </a:tr>
              <a:tr h="464018">
                <a:tc>
                  <a:txBody>
                    <a:bodyPr/>
                    <a:lstStyle/>
                    <a:p>
                      <a:r>
                        <a:rPr lang="en-US"/>
                        <a:t>Data Gen (Flat)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Franka pick-cube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Demo LeRobot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125967"/>
                  </a:ext>
                </a:extLst>
              </a:tr>
              <a:tr h="363137">
                <a:tc>
                  <a:txBody>
                    <a:bodyPr/>
                    <a:lstStyle/>
                    <a:p>
                      <a:r>
                        <a:rPr lang="en-US"/>
                        <a:t>Data Gen(Kitchen)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 eps in kitchen 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Workshop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880349"/>
                  </a:ext>
                </a:extLst>
              </a:tr>
              <a:tr h="328241">
                <a:tc>
                  <a:txBody>
                    <a:bodyPr/>
                    <a:lstStyle/>
                    <a:p>
                      <a:r>
                        <a:rPr lang="en-US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Offline visual (png, videos) for genesis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Debug PNG/Videos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71436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r>
                        <a:rPr lang="en-US"/>
                        <a:t>VLA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Smovla fine-tune from data gen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Ckpts and loss curve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896005"/>
                  </a:ext>
                </a:extLst>
              </a:tr>
              <a:tr h="460421">
                <a:tc>
                  <a:txBody>
                    <a:bodyPr/>
                    <a:lstStyle/>
                    <a:p>
                      <a:r>
                        <a:rPr lang="en-US"/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Infernece in genesis with new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861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0615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560D-A21D-0786-CEBC-7F8DD5F4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C070A-2905-7814-0B35-3413E79070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b="1"/>
              <a:t>Frameworks</a:t>
            </a:r>
          </a:p>
          <a:p>
            <a:r>
              <a:rPr lang="en-US"/>
              <a:t>- [LeRobot](https://github.com/huggingface/lerobot) — Robot learning framework by HuggingFace (dataset format, policies, training)</a:t>
            </a:r>
          </a:p>
          <a:p>
            <a:r>
              <a:rPr lang="en-US"/>
              <a:t>- [Genesis](https://genesis-embodied-ai.github.io/) — GPU-accelerated physics simulation engine (ROCm compatible via Taichi)</a:t>
            </a:r>
          </a:p>
          <a:p>
            <a:endParaRPr lang="en-US"/>
          </a:p>
          <a:p>
            <a:r>
              <a:rPr lang="en-US" sz="2000" b="1"/>
              <a:t>AMD ROCm</a:t>
            </a:r>
          </a:p>
          <a:p>
            <a:r>
              <a:rPr lang="en-US"/>
              <a:t>- [AMD ROCm Documentation](https://rocm.docs.amd.com/)</a:t>
            </a:r>
          </a:p>
          <a:p>
            <a:r>
              <a:rPr lang="en-US"/>
              <a:t>- [PyTorch ROCm Installation](https://pytorch.org/get-started/locally/)</a:t>
            </a:r>
          </a:p>
          <a:p>
            <a:r>
              <a:rPr lang="en-US"/>
              <a:t>- [World Labs Marble](https://marble.worldlabs.ai/) — 3D scene generation for custom simulation environments</a:t>
            </a:r>
          </a:p>
          <a:p>
            <a:endParaRPr lang="en-US"/>
          </a:p>
          <a:p>
            <a:r>
              <a:rPr lang="en-US" sz="2000" b="1"/>
              <a:t>Dataset</a:t>
            </a:r>
          </a:p>
          <a:p>
            <a:r>
              <a:rPr lang="en-US"/>
              <a:t>- </a:t>
            </a:r>
            <a:r>
              <a:rPr lang="en-US">
                <a:solidFill>
                  <a:srgbClr val="D5D5D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lidavidsh</a:t>
            </a:r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/franka-pick-100ep-genesis · Datasets at Hugging Face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8981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FBDE1E0E-6997-4B95-9702-0A873F1F55E6}" vid="{99FFCE2B-845B-4D44-BE68-1AECEB47D5E9}"/>
    </a:ext>
  </a:extLst>
</a:theme>
</file>

<file path=ppt/theme/theme2.xml><?xml version="1.0" encoding="utf-8"?>
<a:theme xmlns:a="http://schemas.openxmlformats.org/drawingml/2006/main" name="AMD Corporate Template_Light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FBDE1E0E-6997-4B95-9702-0A873F1F55E6}" vid="{D20CE3A5-81B9-4785-BFA6-69CCD1392DF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DA270117BB834D40A2831C1C146F8D55" ma:contentTypeVersion="15" ma:contentTypeDescription="新建文档。" ma:contentTypeScope="" ma:versionID="0f70ea372aff515f3fc5ee19e242ddb2">
  <xsd:schema xmlns:xsd="http://www.w3.org/2001/XMLSchema" xmlns:xs="http://www.w3.org/2001/XMLSchema" xmlns:p="http://schemas.microsoft.com/office/2006/metadata/properties" xmlns:ns2="6bd3fc42-7c9b-4b2a-ac87-e8c6c541b825" xmlns:ns3="638ec9ac-d218-46b2-a798-4d7abefa2006" targetNamespace="http://schemas.microsoft.com/office/2006/metadata/properties" ma:root="true" ma:fieldsID="fd6ef2b811201627d1935e80cd3de6cb" ns2:_="" ns3:_="">
    <xsd:import namespace="6bd3fc42-7c9b-4b2a-ac87-e8c6c541b825"/>
    <xsd:import namespace="638ec9ac-d218-46b2-a798-4d7abefa20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3fc42-7c9b-4b2a-ac87-e8c6c541b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8ec9ac-d218-46b2-a798-4d7abefa200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a6b0042b-6f86-46ed-9684-70dd09ed935a}" ma:internalName="TaxCatchAll" ma:showField="CatchAllData" ma:web="638ec9ac-d218-46b2-a798-4d7abefa20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38ec9ac-d218-46b2-a798-4d7abefa2006" xsi:nil="true"/>
    <lcf76f155ced4ddcb4097134ff3c332f xmlns="6bd3fc42-7c9b-4b2a-ac87-e8c6c541b825">
      <Terms xmlns="http://schemas.microsoft.com/office/infopath/2007/PartnerControls"/>
    </lcf76f155ced4ddcb4097134ff3c332f>
    <SharedWithUsers xmlns="638ec9ac-d218-46b2-a798-4d7abefa2006">
      <UserInfo>
        <DisplayName>Ni, Nick</DisplayName>
        <AccountId>81</AccountId>
        <AccountType/>
      </UserInfo>
      <UserInfo>
        <DisplayName>Wang, George</DisplayName>
        <AccountId>80</AccountId>
        <AccountType/>
      </UserInfo>
    </SharedWithUsers>
  </documentManagement>
</p:properties>
</file>

<file path=customXml/item3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1,"isValidatorEnabled":false,"isLocked":false,"elementsMetadata":[],"slideId":"637629098780810453","enableDocumentContentUpdater":true,"version":"2.0"}]]></TemplafySlideTemplate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Props1.xml><?xml version="1.0" encoding="utf-8"?>
<ds:datastoreItem xmlns:ds="http://schemas.openxmlformats.org/officeDocument/2006/customXml" ds:itemID="{5F11EBFC-1432-4D41-955C-822BC124CCA5}">
  <ds:schemaRefs>
    <ds:schemaRef ds:uri="638ec9ac-d218-46b2-a798-4d7abefa2006"/>
    <ds:schemaRef ds:uri="6bd3fc42-7c9b-4b2a-ac87-e8c6c541b8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638ec9ac-d218-46b2-a798-4d7abefa2006"/>
    <ds:schemaRef ds:uri="6bd3fc42-7c9b-4b2a-ac87-e8c6c541b825"/>
    <ds:schemaRef ds:uri="6e49b64d-8588-4dba-a06d-a80cd42701c7"/>
    <ds:schemaRef ds:uri="801c62f3-d4ab-4877-9c1a-afb0bfd66ff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3BC5722-1D5B-4915-8247-E6D5F513E549}">
  <ds:schemaRefs/>
</ds:datastoreItem>
</file>

<file path=customXml/itemProps4.xml><?xml version="1.0" encoding="utf-8"?>
<ds:datastoreItem xmlns:ds="http://schemas.openxmlformats.org/officeDocument/2006/customXml" ds:itemID="{1E6080C5-8558-EA47-9338-EA3558B4B25C}">
  <ds:schemaRefs/>
</ds:datastoreItem>
</file>

<file path=customXml/itemProps5.xml><?xml version="1.0" encoding="utf-8"?>
<ds:datastoreItem xmlns:ds="http://schemas.openxmlformats.org/officeDocument/2006/customXml" ds:itemID="{A40A47AF-9F38-B148-A7C2-2E9081B1C4B3}">
  <ds:schemaRefs/>
</ds:datastoreItem>
</file>

<file path=customXml/itemProps6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6291F803-2EF0-4E47-96D6-4796950CE6BD}">
  <ds:schemaRefs/>
</ds:datastoreItem>
</file>

<file path=docMetadata/LabelInfo.xml><?xml version="1.0" encoding="utf-8"?>
<clbl:labelList xmlns:clbl="http://schemas.microsoft.com/office/2020/mipLabelMetadata">
  <clbl:label id="{88914ebd-7e6c-4e12-a031-a9906be2db14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AMD Corporate Template_Dark</vt:lpstr>
      <vt:lpstr>AMD Corporate Template_Light</vt:lpstr>
      <vt:lpstr>Build Synthetic Data Generation (SDG) Pipeline in a Digital Twin World</vt:lpstr>
      <vt:lpstr>Background &amp; Motivation</vt:lpstr>
      <vt:lpstr>Synthetic Data Generation(SDG)</vt:lpstr>
      <vt:lpstr>SmolVLA Post-Training</vt:lpstr>
      <vt:lpstr>Evaluation in Virtual World</vt:lpstr>
      <vt:lpstr>Summary</vt:lpstr>
      <vt:lpstr>Reference</vt:lpstr>
    </vt:vector>
  </TitlesOfParts>
  <Manager>&lt;Comms manager name here&gt;</Manager>
  <Company>AMD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Zhang, Haichen</dc:creator>
  <cp:keywords/>
  <dc:description/>
  <cp:revision>1</cp:revision>
  <cp:lastPrinted>2020-04-30T18:59:47Z</cp:lastPrinted>
  <dcterms:created xsi:type="dcterms:W3CDTF">2023-11-08T07:50:58Z</dcterms:created>
  <dcterms:modified xsi:type="dcterms:W3CDTF">2026-04-24T03:08:03Z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MSIP_Label_88914ebd-7e6c-4e12-a031-a9906be2db14_Enabled">
    <vt:lpwstr>true</vt:lpwstr>
  </property>
  <property fmtid="{D5CDD505-2E9C-101B-9397-08002B2CF9AE}" pid="7" name="MSIP_Label_88914ebd-7e6c-4e12-a031-a9906be2db14_SetDate">
    <vt:lpwstr>2022-03-18T20:30:25Z</vt:lpwstr>
  </property>
  <property fmtid="{D5CDD505-2E9C-101B-9397-08002B2CF9AE}" pid="8" name="MSIP_Label_88914ebd-7e6c-4e12-a031-a9906be2db14_Method">
    <vt:lpwstr>Privileged</vt:lpwstr>
  </property>
  <property fmtid="{D5CDD505-2E9C-101B-9397-08002B2CF9AE}" pid="9" name="MSIP_Label_88914ebd-7e6c-4e12-a031-a9906be2db14_Name">
    <vt:lpwstr>AMD Official Use Only-AIP 2.0</vt:lpwstr>
  </property>
  <property fmtid="{D5CDD505-2E9C-101B-9397-08002B2CF9AE}" pid="10" name="MSIP_Label_88914ebd-7e6c-4e12-a031-a9906be2db14_SiteId">
    <vt:lpwstr>3dd8961f-e488-4e60-8e11-a82d994e183d</vt:lpwstr>
  </property>
  <property fmtid="{D5CDD505-2E9C-101B-9397-08002B2CF9AE}" pid="11" name="MSIP_Label_88914ebd-7e6c-4e12-a031-a9906be2db14_ActionId">
    <vt:lpwstr>7a247877-5957-4518-beb2-823285eab49a</vt:lpwstr>
  </property>
  <property fmtid="{D5CDD505-2E9C-101B-9397-08002B2CF9AE}" pid="12" name="MSIP_Label_88914ebd-7e6c-4e12-a031-a9906be2db14_ContentBits">
    <vt:lpwstr>1</vt:lpwstr>
  </property>
  <property fmtid="{D5CDD505-2E9C-101B-9397-08002B2CF9AE}" pid="13" name="ClassificationContentMarkingHeaderLocations">
    <vt:lpwstr>AMD Corporate Template_Dark:6\AMD Corporate Template_Light:6</vt:lpwstr>
  </property>
  <property fmtid="{D5CDD505-2E9C-101B-9397-08002B2CF9AE}" pid="14" name="ClassificationContentMarkingHeaderText">
    <vt:lpwstr>[AMD Official Use Only]</vt:lpwstr>
  </property>
  <property fmtid="{D5CDD505-2E9C-101B-9397-08002B2CF9AE}" pid="15" name="ContentTypeId">
    <vt:lpwstr>0x010100DA270117BB834D40A2831C1C146F8D55</vt:lpwstr>
  </property>
  <property fmtid="{D5CDD505-2E9C-101B-9397-08002B2CF9AE}" pid="16" name="MediaServiceImageTags">
    <vt:lpwstr/>
  </property>
</Properties>
</file>